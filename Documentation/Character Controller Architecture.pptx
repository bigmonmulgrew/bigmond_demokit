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6" r:id="rId4"/>
    <p:sldId id="260" r:id="rId5"/>
    <p:sldId id="259" r:id="rId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AE5BA"/>
    <a:srgbClr val="CB5A5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284" y="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49D5B3-F113-9EB5-770C-18C513BE388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1BBBE8B-0143-D9F6-0479-D8BCB01CC2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E2C0A7C-192C-74F2-E730-93FD70DB5F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EEF15-3224-4E6A-86AF-A482FB815B50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E03C890-88EA-5F36-6422-FA5DF6D6CA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FEEBE5-50C4-E699-E796-4810F4CC8C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44A60-002D-4EA0-A042-7C56AEF360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87356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2535DA-F295-F2CB-77F2-BD5982FB320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F3212D-473A-C524-A89B-9C9D595A39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C9D85D-9C15-55C1-77C2-ECB28E8CD08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EEF15-3224-4E6A-86AF-A482FB815B50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F0D09F-48BC-40EE-9D3D-E609EB0560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C6D6EC-65F7-ABDB-A0AB-3B06126B26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44A60-002D-4EA0-A042-7C56AEF360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86503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E8F239-A9D2-F306-C971-4C474B2B89D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EB5FCF-11E6-29E5-66F8-C3EA9A9719D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3847F5E-4A2B-EA4A-C029-5B0815F6F1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EEF15-3224-4E6A-86AF-A482FB815B50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BF5E995-FD3B-89A7-0660-152C6CD832A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3BA85D-8C1A-BBF8-C04D-AE95627CF0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44A60-002D-4EA0-A042-7C56AEF360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28512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8370BD-FB48-8061-4DB3-86387DF3A7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DA116C-8E66-F230-CC54-AB2E5328681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5FEF8D-48FC-25F3-55A2-D52760E54B9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7D77278-0195-A2B0-A83F-B69B878703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EEF15-3224-4E6A-86AF-A482FB815B50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62E844B-14D4-71FF-B18B-25F7761B13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6B93D91-67BA-F569-D6E6-3CEBD3F1BE2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44A60-002D-4EA0-A042-7C56AEF360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0517721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A7859-52FB-541F-5FC2-93CEF9CBB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88921DC-8F4E-8ED1-489D-3B58BC80EF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61A7D8B-22C3-CE7E-F59B-49363F12175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3260D6E1-4A89-1D9F-12BD-A28DA37C863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27C2DA2-51F9-0698-DC5F-76FC777B6E7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44089CA-43AA-0E35-A599-DA9F9231E7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EEF15-3224-4E6A-86AF-A482FB815B50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C619A4B-F227-5507-734A-358BE5F79B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9245040-34A3-28C7-32B1-02EFECB5E6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44A60-002D-4EA0-A042-7C56AEF360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748798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715629-B595-57B5-A1A9-D72EA45131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FA2D772-47BD-068C-2EB9-9C705F5E7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EEF15-3224-4E6A-86AF-A482FB815B50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6CE62AC-6781-224F-2653-56734A0D0A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21C4B8C-B7D0-EED5-42AE-15FF586A5E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44A60-002D-4EA0-A042-7C56AEF360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431968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42A3401-608E-E68D-C722-5790D55BF16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EEF15-3224-4E6A-86AF-A482FB815B50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616B863-BBB9-ED37-7B17-B92324B635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3A8073B-3F9F-B1A4-B914-B66FF2F3F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44A60-002D-4EA0-A042-7C56AEF360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260420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79B45D-934D-B2B4-E931-62D161E616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D3EF68E-A683-5F08-81FE-2F7A85C360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42F9461-27E3-32F2-02EE-2EB4C53BA7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E205B7B-8111-B0E0-1902-BDD6CD3D2F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EEF15-3224-4E6A-86AF-A482FB815B50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440D673D-C455-D646-1130-C41C220129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B425345-8A6D-CE99-CBAF-FE94C180A6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44A60-002D-4EA0-A042-7C56AEF360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62797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86FCA8-1BC8-4A84-B4A6-CE72028AA3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F9DE4AC-F933-9872-D86C-0E6C585D4C4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8F977F3-85E4-553B-8EA0-1CDD371FFE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0618186-C2A8-6481-90BA-74EC997CA5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EEF15-3224-4E6A-86AF-A482FB815B50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E056E09-65D6-5E2A-DB59-2820AD831AC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A74B373-315E-B635-7C9E-505A96795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44A60-002D-4EA0-A042-7C56AEF360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626109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D34253F-ADA0-2FD5-D80D-C12BA0537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02EBB90-D758-F3F1-A4A0-72164A1F1B6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2FA3F83-E9E1-26FE-6DAD-AC11D25A6BE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EEF15-3224-4E6A-86AF-A482FB815B50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5E5325-921F-7934-306A-DD7E55243C8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C751DB-C8F3-5A46-3921-B371F90D826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44A60-002D-4EA0-A042-7C56AEF360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3632174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2788D17-2C3C-EFD8-0115-F8222FB47AB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3F959D4-478E-DA89-0FDC-30A55BF2C4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E95A0C1-CC9B-5F7F-9BE7-01C19A10A1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03EEF15-3224-4E6A-86AF-A482FB815B50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2069EE8-C448-412C-4915-030A4A2D58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BB375F-5A77-ED27-E20C-469EA5851BA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44A60-002D-4EA0-A042-7C56AEF360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625472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F76322C-55BE-0415-CC47-FF82B4F977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20927A1-279D-BF63-1619-7D8449ECB00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693AA60-E6BA-DC40-E06F-57CAAF3E022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3EEF15-3224-4E6A-86AF-A482FB815B50}" type="datetimeFigureOut">
              <a:rPr lang="en-GB" smtClean="0"/>
              <a:t>20/11/2025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58A7728-54B6-D88F-474D-F6CAA7AD15C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4E64A4F-0357-47F4-9724-09DF6172612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7744A60-002D-4EA0-A042-7C56AEF3603B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3822302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7E901A-8431-0580-D960-8A65BD952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Character Controller Overview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155D41D-EDF8-E1F5-2964-550D92F33EF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Component composition</a:t>
            </a:r>
          </a:p>
          <a:p>
            <a:r>
              <a:rPr lang="en-GB" dirty="0"/>
              <a:t>Class inheritance</a:t>
            </a:r>
          </a:p>
          <a:p>
            <a:r>
              <a:rPr lang="en-GB" dirty="0"/>
              <a:t>Interface modules</a:t>
            </a:r>
          </a:p>
        </p:txBody>
      </p:sp>
    </p:spTree>
    <p:extLst>
      <p:ext uri="{BB962C8B-B14F-4D97-AF65-F5344CB8AC3E}">
        <p14:creationId xmlns:p14="http://schemas.microsoft.com/office/powerpoint/2010/main" val="383390009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89BDC3-D3E6-FCB1-B92B-1815F6C27E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Objectives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A65C372-0863-93A2-C13F-91627043E14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Build a Character controller with modular functionality capable of fitting the vast majority of use cases</a:t>
            </a:r>
          </a:p>
          <a:p>
            <a:r>
              <a:rPr lang="en-GB" dirty="0"/>
              <a:t>Avoid having to load large unnecessary code </a:t>
            </a:r>
          </a:p>
          <a:p>
            <a:r>
              <a:rPr lang="en-GB" dirty="0"/>
              <a:t>Avoid complex switching logic</a:t>
            </a:r>
          </a:p>
        </p:txBody>
      </p:sp>
    </p:spTree>
    <p:extLst>
      <p:ext uri="{BB962C8B-B14F-4D97-AF65-F5344CB8AC3E}">
        <p14:creationId xmlns:p14="http://schemas.microsoft.com/office/powerpoint/2010/main" val="235837750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F76E5A42-D387-03AA-D9EB-806DCE590F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Class Inheritance</a:t>
            </a:r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43EB5081-57B9-AD5F-7BCD-C17210A81892}"/>
              </a:ext>
            </a:extLst>
          </p:cNvPr>
          <p:cNvSpPr/>
          <p:nvPr/>
        </p:nvSpPr>
        <p:spPr>
          <a:xfrm>
            <a:off x="5045404" y="1497352"/>
            <a:ext cx="1586094" cy="11535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Character Controller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011A0F4A-7962-BCE1-90D6-5C47A7B6707B}"/>
              </a:ext>
            </a:extLst>
          </p:cNvPr>
          <p:cNvSpPr/>
          <p:nvPr/>
        </p:nvSpPr>
        <p:spPr>
          <a:xfrm>
            <a:off x="5045404" y="3671491"/>
            <a:ext cx="1586094" cy="11535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Player Controller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9D46EA06-2C74-E04D-9B87-BCDD422B9C43}"/>
              </a:ext>
            </a:extLst>
          </p:cNvPr>
          <p:cNvSpPr/>
          <p:nvPr/>
        </p:nvSpPr>
        <p:spPr>
          <a:xfrm>
            <a:off x="8814281" y="3671489"/>
            <a:ext cx="1586094" cy="11535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Enemy Controller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7FDAC52A-8D3E-C36A-F7BD-B975FEC5A69D}"/>
              </a:ext>
            </a:extLst>
          </p:cNvPr>
          <p:cNvSpPr/>
          <p:nvPr/>
        </p:nvSpPr>
        <p:spPr>
          <a:xfrm>
            <a:off x="2224194" y="3671494"/>
            <a:ext cx="1586094" cy="11535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NPC Controller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9866C4D2-E491-8DE3-0629-C25B77FB6BF2}"/>
              </a:ext>
            </a:extLst>
          </p:cNvPr>
          <p:cNvSpPr/>
          <p:nvPr/>
        </p:nvSpPr>
        <p:spPr>
          <a:xfrm>
            <a:off x="417066" y="3671490"/>
            <a:ext cx="1586094" cy="11535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Widget Controller </a:t>
            </a:r>
          </a:p>
          <a:p>
            <a:pPr algn="ctr"/>
            <a:r>
              <a:rPr lang="en-GB" dirty="0"/>
              <a:t>Eg CCTV camera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D3BD125E-8AB3-412E-327C-9103D0CBD412}"/>
              </a:ext>
            </a:extLst>
          </p:cNvPr>
          <p:cNvCxnSpPr>
            <a:cxnSpLocks/>
            <a:stCxn id="5" idx="2"/>
            <a:endCxn id="6" idx="0"/>
          </p:cNvCxnSpPr>
          <p:nvPr/>
        </p:nvCxnSpPr>
        <p:spPr>
          <a:xfrm>
            <a:off x="5838451" y="2650921"/>
            <a:ext cx="0" cy="102057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164347D8-E5D1-43C9-128A-6238D7EFCCE2}"/>
              </a:ext>
            </a:extLst>
          </p:cNvPr>
          <p:cNvCxnSpPr>
            <a:stCxn id="5" idx="2"/>
            <a:endCxn id="7" idx="0"/>
          </p:cNvCxnSpPr>
          <p:nvPr/>
        </p:nvCxnSpPr>
        <p:spPr>
          <a:xfrm>
            <a:off x="5838451" y="2650921"/>
            <a:ext cx="3768877" cy="102056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584DA6B9-FF62-C50B-4915-72146CA00551}"/>
              </a:ext>
            </a:extLst>
          </p:cNvPr>
          <p:cNvCxnSpPr>
            <a:cxnSpLocks/>
            <a:stCxn id="5" idx="2"/>
            <a:endCxn id="9" idx="0"/>
          </p:cNvCxnSpPr>
          <p:nvPr/>
        </p:nvCxnSpPr>
        <p:spPr>
          <a:xfrm flipH="1">
            <a:off x="1210113" y="2650921"/>
            <a:ext cx="4628338" cy="102056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4ED8F353-D94C-6BB3-042B-F01EE2E27746}"/>
              </a:ext>
            </a:extLst>
          </p:cNvPr>
          <p:cNvCxnSpPr>
            <a:cxnSpLocks/>
            <a:stCxn id="5" idx="2"/>
            <a:endCxn id="8" idx="0"/>
          </p:cNvCxnSpPr>
          <p:nvPr/>
        </p:nvCxnSpPr>
        <p:spPr>
          <a:xfrm flipH="1">
            <a:off x="3017241" y="2650921"/>
            <a:ext cx="2821210" cy="102057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ctangle: Rounded Corners 25">
            <a:extLst>
              <a:ext uri="{FF2B5EF4-FFF2-40B4-BE49-F238E27FC236}">
                <a16:creationId xmlns:a16="http://schemas.microsoft.com/office/drawing/2014/main" id="{47DE8967-2881-C8D1-B509-216CD7706CCD}"/>
              </a:ext>
            </a:extLst>
          </p:cNvPr>
          <p:cNvSpPr/>
          <p:nvPr/>
        </p:nvSpPr>
        <p:spPr>
          <a:xfrm>
            <a:off x="8814281" y="5339306"/>
            <a:ext cx="1586094" cy="11535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Boss Controller</a:t>
            </a:r>
          </a:p>
        </p:txBody>
      </p: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B5E5F150-8DFA-5C98-8DAE-A8FAD2806114}"/>
              </a:ext>
            </a:extLst>
          </p:cNvPr>
          <p:cNvCxnSpPr>
            <a:stCxn id="7" idx="2"/>
            <a:endCxn id="26" idx="0"/>
          </p:cNvCxnSpPr>
          <p:nvPr/>
        </p:nvCxnSpPr>
        <p:spPr>
          <a:xfrm>
            <a:off x="9607328" y="4825058"/>
            <a:ext cx="0" cy="51424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>
            <a:extLst>
              <a:ext uri="{FF2B5EF4-FFF2-40B4-BE49-F238E27FC236}">
                <a16:creationId xmlns:a16="http://schemas.microsoft.com/office/drawing/2014/main" id="{A1C2F311-708A-9B55-F282-71057248BA7F}"/>
              </a:ext>
            </a:extLst>
          </p:cNvPr>
          <p:cNvSpPr txBox="1"/>
          <p:nvPr/>
        </p:nvSpPr>
        <p:spPr>
          <a:xfrm>
            <a:off x="352337" y="5146646"/>
            <a:ext cx="7668891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Base class for the </a:t>
            </a:r>
            <a:r>
              <a:rPr lang="en-GB" b="1" dirty="0"/>
              <a:t>character controller </a:t>
            </a:r>
            <a:r>
              <a:rPr lang="en-GB" dirty="0"/>
              <a:t>handles all </a:t>
            </a:r>
            <a:r>
              <a:rPr lang="en-GB" b="1" dirty="0"/>
              <a:t>implementation</a:t>
            </a:r>
            <a:r>
              <a:rPr lang="en-GB" dirty="0"/>
              <a:t> and communication with other </a:t>
            </a:r>
            <a:r>
              <a:rPr lang="en-GB" b="1" dirty="0"/>
              <a:t>components</a:t>
            </a:r>
            <a:r>
              <a:rPr lang="en-GB" dirty="0"/>
              <a:t> and modules.</a:t>
            </a:r>
          </a:p>
          <a:p>
            <a:r>
              <a:rPr lang="en-GB" b="1" dirty="0" err="1"/>
              <a:t>Subclassess</a:t>
            </a:r>
            <a:r>
              <a:rPr lang="en-GB" dirty="0"/>
              <a:t> handle </a:t>
            </a:r>
            <a:r>
              <a:rPr lang="en-GB" b="1" dirty="0"/>
              <a:t>decision making</a:t>
            </a:r>
            <a:r>
              <a:rPr lang="en-GB" dirty="0"/>
              <a:t>, for </a:t>
            </a:r>
            <a:r>
              <a:rPr lang="en-GB" b="1" dirty="0"/>
              <a:t>player</a:t>
            </a:r>
            <a:r>
              <a:rPr lang="en-GB" dirty="0"/>
              <a:t> this is an </a:t>
            </a:r>
            <a:r>
              <a:rPr lang="en-GB" b="1" dirty="0"/>
              <a:t>input system</a:t>
            </a:r>
            <a:r>
              <a:rPr lang="en-GB" dirty="0"/>
              <a:t>, for </a:t>
            </a:r>
            <a:r>
              <a:rPr lang="en-GB" b="1" dirty="0"/>
              <a:t>enemy</a:t>
            </a:r>
            <a:r>
              <a:rPr lang="en-GB" dirty="0"/>
              <a:t> it is </a:t>
            </a:r>
            <a:r>
              <a:rPr lang="en-GB" b="1" dirty="0"/>
              <a:t>AI</a:t>
            </a:r>
            <a:r>
              <a:rPr lang="en-GB" dirty="0"/>
              <a:t>. These pass data via </a:t>
            </a:r>
            <a:r>
              <a:rPr lang="en-GB" b="1" dirty="0"/>
              <a:t>common variables </a:t>
            </a:r>
            <a:r>
              <a:rPr lang="en-GB" dirty="0"/>
              <a:t>on the CC.</a:t>
            </a:r>
          </a:p>
        </p:txBody>
      </p:sp>
      <p:sp>
        <p:nvSpPr>
          <p:cNvPr id="31" name="Rectangle: Rounded Corners 30">
            <a:extLst>
              <a:ext uri="{FF2B5EF4-FFF2-40B4-BE49-F238E27FC236}">
                <a16:creationId xmlns:a16="http://schemas.microsoft.com/office/drawing/2014/main" id="{3B7176A7-3B3E-57E7-F6B8-01749F85BC96}"/>
              </a:ext>
            </a:extLst>
          </p:cNvPr>
          <p:cNvSpPr/>
          <p:nvPr/>
        </p:nvSpPr>
        <p:spPr>
          <a:xfrm>
            <a:off x="8966681" y="3823889"/>
            <a:ext cx="1586094" cy="11535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Enemy Controller</a:t>
            </a:r>
          </a:p>
        </p:txBody>
      </p:sp>
    </p:spTree>
    <p:extLst>
      <p:ext uri="{BB962C8B-B14F-4D97-AF65-F5344CB8AC3E}">
        <p14:creationId xmlns:p14="http://schemas.microsoft.com/office/powerpoint/2010/main" val="101982246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A697A-8833-19FC-892E-ED829D82483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Interface Modules</a:t>
            </a:r>
          </a:p>
        </p:txBody>
      </p:sp>
      <p:grpSp>
        <p:nvGrpSpPr>
          <p:cNvPr id="20" name="Group 19">
            <a:extLst>
              <a:ext uri="{FF2B5EF4-FFF2-40B4-BE49-F238E27FC236}">
                <a16:creationId xmlns:a16="http://schemas.microsoft.com/office/drawing/2014/main" id="{A7FB910F-D064-BE13-AECD-AF89EE6C7A25}"/>
              </a:ext>
            </a:extLst>
          </p:cNvPr>
          <p:cNvGrpSpPr/>
          <p:nvPr/>
        </p:nvGrpSpPr>
        <p:grpSpPr>
          <a:xfrm>
            <a:off x="886981" y="2461943"/>
            <a:ext cx="4647501" cy="3484726"/>
            <a:chOff x="880844" y="2369889"/>
            <a:chExt cx="4647501" cy="3484726"/>
          </a:xfrm>
        </p:grpSpPr>
        <p:sp>
          <p:nvSpPr>
            <p:cNvPr id="3" name="Rectangle: Rounded Corners 2">
              <a:extLst>
                <a:ext uri="{FF2B5EF4-FFF2-40B4-BE49-F238E27FC236}">
                  <a16:creationId xmlns:a16="http://schemas.microsoft.com/office/drawing/2014/main" id="{AE63B0B4-B004-5177-5C7C-F5759D77E806}"/>
                </a:ext>
              </a:extLst>
            </p:cNvPr>
            <p:cNvSpPr/>
            <p:nvPr/>
          </p:nvSpPr>
          <p:spPr>
            <a:xfrm>
              <a:off x="880844" y="2369889"/>
              <a:ext cx="4647501" cy="3484725"/>
            </a:xfrm>
            <a:prstGeom prst="round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Character Controller</a:t>
              </a:r>
            </a:p>
            <a:p>
              <a:pPr algn="ctr"/>
              <a:r>
                <a:rPr lang="en-GB" sz="1400" dirty="0"/>
                <a:t>Functions as a signal and variable hub</a:t>
              </a:r>
            </a:p>
            <a:p>
              <a:pPr algn="ctr"/>
              <a:endParaRPr lang="en-GB" dirty="0"/>
            </a:p>
            <a:p>
              <a:pPr algn="ctr"/>
              <a:endParaRPr lang="en-GB" dirty="0"/>
            </a:p>
            <a:p>
              <a:pPr algn="ctr"/>
              <a:endParaRPr lang="en-GB" dirty="0"/>
            </a:p>
            <a:p>
              <a:pPr algn="ctr"/>
              <a:endParaRPr lang="en-GB" dirty="0"/>
            </a:p>
            <a:p>
              <a:pPr algn="ctr"/>
              <a:endParaRPr lang="en-GB" dirty="0"/>
            </a:p>
            <a:p>
              <a:pPr algn="ctr"/>
              <a:endParaRPr lang="en-GB" dirty="0"/>
            </a:p>
            <a:p>
              <a:pPr algn="ctr"/>
              <a:endParaRPr lang="en-GB" dirty="0"/>
            </a:p>
            <a:p>
              <a:pPr algn="ctr"/>
              <a:endParaRPr lang="en-GB" dirty="0"/>
            </a:p>
            <a:p>
              <a:pPr algn="ctr"/>
              <a:endParaRPr lang="en-GB" dirty="0"/>
            </a:p>
            <a:p>
              <a:pPr algn="ctr"/>
              <a:endParaRPr lang="en-GB" dirty="0"/>
            </a:p>
            <a:p>
              <a:pPr algn="ctr"/>
              <a:endParaRPr lang="en-GB" dirty="0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AC3E813-E830-F1D7-4EEB-94A4C53E5151}"/>
                </a:ext>
              </a:extLst>
            </p:cNvPr>
            <p:cNvSpPr/>
            <p:nvPr/>
          </p:nvSpPr>
          <p:spPr>
            <a:xfrm>
              <a:off x="885038" y="2886119"/>
              <a:ext cx="4643307" cy="851261"/>
            </a:xfrm>
            <a:prstGeom prst="rect">
              <a:avLst/>
            </a:prstGeom>
          </p:spPr>
          <p:style>
            <a:lnRef idx="1">
              <a:schemeClr val="accent1"/>
            </a:lnRef>
            <a:fillRef idx="2">
              <a:schemeClr val="accent1"/>
            </a:fillRef>
            <a:effectRef idx="1">
              <a:schemeClr val="accent1"/>
            </a:effectRef>
            <a:fontRef idx="minor">
              <a:schemeClr val="dk1"/>
            </a:fontRef>
          </p:style>
          <p:txBody>
            <a:bodyPr rtlCol="0" anchor="ctr"/>
            <a:lstStyle/>
            <a:p>
              <a:pPr algn="ctr"/>
              <a:r>
                <a:rPr lang="en-GB" dirty="0"/>
                <a:t>Interface Layer</a:t>
              </a:r>
            </a:p>
            <a:p>
              <a:pPr algn="ctr"/>
              <a:r>
                <a:rPr lang="en-GB" sz="1200" dirty="0"/>
                <a:t>Common interfaces, </a:t>
              </a:r>
              <a:r>
                <a:rPr lang="en-GB" sz="1200" dirty="0" err="1"/>
                <a:t>Initisalize</a:t>
              </a:r>
              <a:r>
                <a:rPr lang="en-GB" sz="1200" dirty="0"/>
                <a:t>  (Runs on CC Start), </a:t>
              </a:r>
            </a:p>
            <a:p>
              <a:pPr algn="ctr"/>
              <a:r>
                <a:rPr lang="en-GB" sz="1200" dirty="0"/>
                <a:t>Tick (runs on CC Update), </a:t>
              </a:r>
              <a:r>
                <a:rPr lang="en-GB" sz="1200" dirty="0" err="1"/>
                <a:t>FixedTick</a:t>
              </a:r>
              <a:r>
                <a:rPr lang="en-GB" sz="1200" dirty="0"/>
                <a:t> (Runs on CC </a:t>
              </a:r>
              <a:r>
                <a:rPr lang="en-GB" sz="1200" dirty="0" err="1"/>
                <a:t>FixedUpdate</a:t>
              </a:r>
              <a:r>
                <a:rPr lang="en-GB" sz="1200" dirty="0"/>
                <a:t>), Dispose(runs on CC Disable)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9554C1D2-6827-531C-0A8A-2E8C9E45ACE8}"/>
                </a:ext>
              </a:extLst>
            </p:cNvPr>
            <p:cNvSpPr/>
            <p:nvPr/>
          </p:nvSpPr>
          <p:spPr>
            <a:xfrm>
              <a:off x="1724099" y="3737381"/>
              <a:ext cx="591423" cy="2117234"/>
            </a:xfrm>
            <a:prstGeom prst="rect">
              <a:avLst/>
            </a:prstGeom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GB" dirty="0"/>
                <a:t>Movement Module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F34483B6-BE12-3A0B-8BDF-755173DF0D81}"/>
                </a:ext>
              </a:extLst>
            </p:cNvPr>
            <p:cNvSpPr/>
            <p:nvPr/>
          </p:nvSpPr>
          <p:spPr>
            <a:xfrm>
              <a:off x="2525247" y="3737381"/>
              <a:ext cx="591423" cy="2117234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GB" dirty="0"/>
                <a:t>Animation Module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61840801-3A1D-7D6C-9CC7-4DE3677CA004}"/>
                </a:ext>
              </a:extLst>
            </p:cNvPr>
            <p:cNvSpPr/>
            <p:nvPr/>
          </p:nvSpPr>
          <p:spPr>
            <a:xfrm>
              <a:off x="3290044" y="3737381"/>
              <a:ext cx="591423" cy="2117234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GB" dirty="0"/>
                <a:t>VFX Module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DE47CD9B-08C1-CFD0-E7AA-C8776EF167E8}"/>
                </a:ext>
              </a:extLst>
            </p:cNvPr>
            <p:cNvSpPr/>
            <p:nvPr/>
          </p:nvSpPr>
          <p:spPr>
            <a:xfrm>
              <a:off x="4117758" y="3737381"/>
              <a:ext cx="591423" cy="2117234"/>
            </a:xfrm>
            <a:prstGeom prst="rect">
              <a:avLst/>
            </a:prstGeom>
            <a:solidFill>
              <a:srgbClr val="CB5A51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GB" dirty="0"/>
                <a:t>Flight Module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48B74F62-3BBB-F695-F8BC-895176CACC23}"/>
              </a:ext>
            </a:extLst>
          </p:cNvPr>
          <p:cNvGrpSpPr/>
          <p:nvPr/>
        </p:nvGrpSpPr>
        <p:grpSpPr>
          <a:xfrm>
            <a:off x="7759326" y="2456309"/>
            <a:ext cx="2415637" cy="3495992"/>
            <a:chOff x="7863654" y="2355543"/>
            <a:chExt cx="2415637" cy="3495992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5B226339-F00F-2CA2-DB61-68848BEE995B}"/>
                </a:ext>
              </a:extLst>
            </p:cNvPr>
            <p:cNvSpPr/>
            <p:nvPr/>
          </p:nvSpPr>
          <p:spPr>
            <a:xfrm>
              <a:off x="7863655" y="3087741"/>
              <a:ext cx="2415635" cy="608576"/>
            </a:xfrm>
            <a:prstGeom prst="rect">
              <a:avLst/>
            </a:prstGeom>
            <a:solidFill>
              <a:schemeClr val="accent2">
                <a:lumMod val="40000"/>
                <a:lumOff val="60000"/>
              </a:schemeClr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Rotation Module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362BD48C-A52A-7B9E-7550-9FE77FA7AA4C}"/>
                </a:ext>
              </a:extLst>
            </p:cNvPr>
            <p:cNvSpPr/>
            <p:nvPr/>
          </p:nvSpPr>
          <p:spPr>
            <a:xfrm>
              <a:off x="7863655" y="3799251"/>
              <a:ext cx="2415635" cy="608576"/>
            </a:xfrm>
            <a:prstGeom prst="rect">
              <a:avLst/>
            </a:prstGeom>
          </p:spPr>
          <p:style>
            <a:lnRef idx="2">
              <a:schemeClr val="accent5">
                <a:shade val="15000"/>
              </a:schemeClr>
            </a:lnRef>
            <a:fillRef idx="1">
              <a:schemeClr val="accent5"/>
            </a:fillRef>
            <a:effectRef idx="0">
              <a:schemeClr val="accent5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r>
                <a:rPr lang="en-GB" dirty="0"/>
                <a:t>Particle Module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A0D169A4-C506-FD35-A501-50BE51C13C27}"/>
                </a:ext>
              </a:extLst>
            </p:cNvPr>
            <p:cNvSpPr/>
            <p:nvPr/>
          </p:nvSpPr>
          <p:spPr>
            <a:xfrm>
              <a:off x="7863656" y="4571990"/>
              <a:ext cx="2415635" cy="608576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6"/>
            </a:fillRef>
            <a:effectRef idx="1">
              <a:schemeClr val="accent6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r>
                <a:rPr lang="en-GB" dirty="0"/>
                <a:t>Audio Module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96D33FD7-8E20-FA0F-D176-329A23B460E1}"/>
                </a:ext>
              </a:extLst>
            </p:cNvPr>
            <p:cNvSpPr/>
            <p:nvPr/>
          </p:nvSpPr>
          <p:spPr>
            <a:xfrm>
              <a:off x="7863656" y="5242959"/>
              <a:ext cx="2415635" cy="608576"/>
            </a:xfrm>
            <a:prstGeom prst="rect">
              <a:avLst/>
            </a:prstGeom>
            <a:solidFill>
              <a:srgbClr val="CB5A51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r>
                <a:rPr lang="en-GB" dirty="0"/>
                <a:t>Swimming Module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9E2ABB31-7B71-718D-C8F2-559FF3066183}"/>
                </a:ext>
              </a:extLst>
            </p:cNvPr>
            <p:cNvSpPr/>
            <p:nvPr/>
          </p:nvSpPr>
          <p:spPr>
            <a:xfrm>
              <a:off x="7863654" y="2355543"/>
              <a:ext cx="2415635" cy="608576"/>
            </a:xfrm>
            <a:prstGeom prst="rect">
              <a:avLst/>
            </a:prstGeom>
            <a:solidFill>
              <a:srgbClr val="EAE5BA"/>
            </a:solidFill>
          </p:spPr>
          <p:style>
            <a:lnRef idx="2">
              <a:schemeClr val="accent2">
                <a:shade val="15000"/>
              </a:schemeClr>
            </a:lnRef>
            <a:fillRef idx="1">
              <a:schemeClr val="accent2"/>
            </a:fillRef>
            <a:effectRef idx="0">
              <a:schemeClr val="accent2"/>
            </a:effectRef>
            <a:fontRef idx="minor">
              <a:schemeClr val="lt1"/>
            </a:fontRef>
          </p:style>
          <p:txBody>
            <a:bodyPr vert="horz" rtlCol="0" anchor="ctr"/>
            <a:lstStyle/>
            <a:p>
              <a:pPr algn="ctr"/>
              <a:r>
                <a:rPr lang="en-GB" dirty="0">
                  <a:solidFill>
                    <a:schemeClr val="tx1"/>
                  </a:solidFill>
                </a:rPr>
                <a:t>Flight Module</a:t>
              </a:r>
            </a:p>
          </p:txBody>
        </p:sp>
      </p:grpSp>
      <p:sp>
        <p:nvSpPr>
          <p:cNvPr id="18" name="TextBox 17">
            <a:extLst>
              <a:ext uri="{FF2B5EF4-FFF2-40B4-BE49-F238E27FC236}">
                <a16:creationId xmlns:a16="http://schemas.microsoft.com/office/drawing/2014/main" id="{05D27B06-6813-E9D9-068F-3D3191116008}"/>
              </a:ext>
            </a:extLst>
          </p:cNvPr>
          <p:cNvSpPr txBox="1"/>
          <p:nvPr/>
        </p:nvSpPr>
        <p:spPr>
          <a:xfrm>
            <a:off x="1853349" y="1828800"/>
            <a:ext cx="1791978" cy="3781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Sample Setup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4AE0DDA6-7F99-9C66-DF24-CB77587504DD}"/>
              </a:ext>
            </a:extLst>
          </p:cNvPr>
          <p:cNvSpPr txBox="1"/>
          <p:nvPr/>
        </p:nvSpPr>
        <p:spPr>
          <a:xfrm>
            <a:off x="7935028" y="1804071"/>
            <a:ext cx="234426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Additional Modules</a:t>
            </a:r>
          </a:p>
        </p:txBody>
      </p:sp>
    </p:spTree>
    <p:extLst>
      <p:ext uri="{BB962C8B-B14F-4D97-AF65-F5344CB8AC3E}">
        <p14:creationId xmlns:p14="http://schemas.microsoft.com/office/powerpoint/2010/main" val="302187112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7C6FBBE-A81D-071F-DF09-ADBB4937D2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GB" dirty="0"/>
              <a:t>Component Composition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FF7CE55-54A1-26D0-B58B-FC311716C817}"/>
              </a:ext>
            </a:extLst>
          </p:cNvPr>
          <p:cNvSpPr/>
          <p:nvPr/>
        </p:nvSpPr>
        <p:spPr>
          <a:xfrm>
            <a:off x="2780021" y="2260833"/>
            <a:ext cx="6554223" cy="3586294"/>
          </a:xfrm>
          <a:prstGeom prst="rect">
            <a:avLst/>
          </a:prstGeom>
        </p:spPr>
        <p:style>
          <a:lnRef idx="1">
            <a:schemeClr val="accent5"/>
          </a:lnRef>
          <a:fillRef idx="2">
            <a:schemeClr val="accent5"/>
          </a:fillRef>
          <a:effectRef idx="1">
            <a:schemeClr val="accent5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GB" dirty="0"/>
              <a:t>Player Game Object</a:t>
            </a:r>
          </a:p>
          <a:p>
            <a:pPr algn="ctr"/>
            <a:endParaRPr lang="en-GB" dirty="0"/>
          </a:p>
          <a:p>
            <a:pPr algn="ctr"/>
            <a:endParaRPr lang="en-GB" dirty="0"/>
          </a:p>
          <a:p>
            <a:pPr algn="ctr"/>
            <a:endParaRPr lang="en-GB" dirty="0"/>
          </a:p>
          <a:p>
            <a:pPr algn="ctr"/>
            <a:endParaRPr lang="en-GB" dirty="0"/>
          </a:p>
          <a:p>
            <a:pPr algn="ctr"/>
            <a:endParaRPr lang="en-GB" dirty="0"/>
          </a:p>
          <a:p>
            <a:pPr algn="ctr"/>
            <a:endParaRPr lang="en-GB" dirty="0"/>
          </a:p>
          <a:p>
            <a:pPr algn="ctr"/>
            <a:endParaRPr lang="en-GB" dirty="0"/>
          </a:p>
          <a:p>
            <a:pPr algn="ctr"/>
            <a:endParaRPr lang="en-GB" dirty="0"/>
          </a:p>
          <a:p>
            <a:pPr algn="ctr"/>
            <a:endParaRPr lang="en-GB" dirty="0"/>
          </a:p>
          <a:p>
            <a:pPr algn="ctr"/>
            <a:endParaRPr lang="en-GB" dirty="0"/>
          </a:p>
          <a:p>
            <a:pPr algn="ctr"/>
            <a:endParaRPr lang="en-GB" dirty="0"/>
          </a:p>
          <a:p>
            <a:pPr algn="ctr"/>
            <a:endParaRPr lang="en-GB" dirty="0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B2261ED9-82CF-B8F4-2B0C-3BA4E05429D5}"/>
              </a:ext>
            </a:extLst>
          </p:cNvPr>
          <p:cNvSpPr/>
          <p:nvPr/>
        </p:nvSpPr>
        <p:spPr>
          <a:xfrm>
            <a:off x="5265902" y="2947335"/>
            <a:ext cx="1586094" cy="11535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Player Controller</a:t>
            </a:r>
          </a:p>
        </p:txBody>
      </p:sp>
      <p:sp>
        <p:nvSpPr>
          <p:cNvPr id="6" name="Rectangle: Rounded Corners 5">
            <a:extLst>
              <a:ext uri="{FF2B5EF4-FFF2-40B4-BE49-F238E27FC236}">
                <a16:creationId xmlns:a16="http://schemas.microsoft.com/office/drawing/2014/main" id="{F5712A53-5352-7E24-B805-3785A4DF5004}"/>
              </a:ext>
            </a:extLst>
          </p:cNvPr>
          <p:cNvSpPr/>
          <p:nvPr/>
        </p:nvSpPr>
        <p:spPr>
          <a:xfrm>
            <a:off x="3265699" y="2947335"/>
            <a:ext cx="1586094" cy="11535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Player</a:t>
            </a: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EA94644A-FE4C-8E30-15E1-24F1C003D6AB}"/>
              </a:ext>
            </a:extLst>
          </p:cNvPr>
          <p:cNvSpPr/>
          <p:nvPr/>
        </p:nvSpPr>
        <p:spPr>
          <a:xfrm>
            <a:off x="7266105" y="2947335"/>
            <a:ext cx="1586094" cy="11535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Health</a:t>
            </a:r>
          </a:p>
        </p:txBody>
      </p:sp>
      <p:sp>
        <p:nvSpPr>
          <p:cNvPr id="8" name="Rectangle: Rounded Corners 7">
            <a:extLst>
              <a:ext uri="{FF2B5EF4-FFF2-40B4-BE49-F238E27FC236}">
                <a16:creationId xmlns:a16="http://schemas.microsoft.com/office/drawing/2014/main" id="{F8A87ACF-D590-7A3F-342F-4DD0068CD30C}"/>
              </a:ext>
            </a:extLst>
          </p:cNvPr>
          <p:cNvSpPr/>
          <p:nvPr/>
        </p:nvSpPr>
        <p:spPr>
          <a:xfrm>
            <a:off x="3265699" y="4397231"/>
            <a:ext cx="1586094" cy="11535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Inventory</a:t>
            </a: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3CF5EF90-1623-7A89-91AB-3BC5C9069B14}"/>
              </a:ext>
            </a:extLst>
          </p:cNvPr>
          <p:cNvSpPr/>
          <p:nvPr/>
        </p:nvSpPr>
        <p:spPr>
          <a:xfrm>
            <a:off x="7266105" y="4397231"/>
            <a:ext cx="1586094" cy="115356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Player Stats Manager</a:t>
            </a:r>
          </a:p>
        </p:txBody>
      </p:sp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60175994-7E24-B723-63B1-9E5DC15C2F9E}"/>
              </a:ext>
            </a:extLst>
          </p:cNvPr>
          <p:cNvCxnSpPr>
            <a:stCxn id="8" idx="3"/>
            <a:endCxn id="5" idx="2"/>
          </p:cNvCxnSpPr>
          <p:nvPr/>
        </p:nvCxnSpPr>
        <p:spPr>
          <a:xfrm flipV="1">
            <a:off x="4851793" y="4100904"/>
            <a:ext cx="1207156" cy="8731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333CA1F4-13DE-615A-22A0-ED6849169DE1}"/>
              </a:ext>
            </a:extLst>
          </p:cNvPr>
          <p:cNvSpPr txBox="1"/>
          <p:nvPr/>
        </p:nvSpPr>
        <p:spPr>
          <a:xfrm>
            <a:off x="5023494" y="4719286"/>
            <a:ext cx="1276478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Subscribe to signal</a:t>
            </a:r>
          </a:p>
        </p:txBody>
      </p:sp>
    </p:spTree>
    <p:extLst>
      <p:ext uri="{BB962C8B-B14F-4D97-AF65-F5344CB8AC3E}">
        <p14:creationId xmlns:p14="http://schemas.microsoft.com/office/powerpoint/2010/main" val="36314841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33</TotalTime>
  <Words>184</Words>
  <Application>Microsoft Office PowerPoint</Application>
  <PresentationFormat>Widescreen</PresentationFormat>
  <Paragraphs>63</Paragraphs>
  <Slides>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Office Theme</vt:lpstr>
      <vt:lpstr>Character Controller Overview</vt:lpstr>
      <vt:lpstr>Objectives</vt:lpstr>
      <vt:lpstr>Class Inheritance</vt:lpstr>
      <vt:lpstr>Interface Modules</vt:lpstr>
      <vt:lpstr>Component Composition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 Mulgrew</dc:creator>
  <cp:lastModifiedBy>David Mulgrew</cp:lastModifiedBy>
  <cp:revision>7</cp:revision>
  <dcterms:created xsi:type="dcterms:W3CDTF">2025-11-20T08:18:49Z</dcterms:created>
  <dcterms:modified xsi:type="dcterms:W3CDTF">2025-11-20T09:05:40Z</dcterms:modified>
</cp:coreProperties>
</file>